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embeddedFontLst>
    <p:embeddedFont>
      <p:font typeface="Guton SemBd"/>
      <p:regular r:id="rId21"/>
    </p:embeddedFont>
    <p:embeddedFont>
      <p:font typeface="Guton"/>
      <p:regular r:id="rId22"/>
      <p:bold r:id="rId23"/>
    </p:embeddedFont>
    <p:embeddedFont>
      <p:font typeface="Inter"/>
      <p:regular r:id="rId24"/>
      <p:bold r:id="rId25"/>
    </p:embeddedFont>
    <p:embeddedFont>
      <p:font typeface="Inter SemiBold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A7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011680" cy="9991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1945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Guton SemBd"/>
              </a:rPr>
              <a:t>EXPOPLATFORM QA · INTERNAL TOOLING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0">
                <a:solidFill>
                  <a:srgbClr val="FFFFFF"/>
                </a:solidFill>
                <a:latin typeface="Guton SemBd"/>
              </a:rPr>
              <a:t>ep-qa-pipeline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Inter"/>
              </a:rPr>
              <a:t>A full QA process in 13 Claude skills — from Jira ticket to human-verified verdict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The problem it solves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One ticket = context digging, grooming, checklist, test cases, PR review, API checks, browser checks, test data, reporting — days of hand work.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Plain “AI, test this” is not trustworthy: on our baseline run, about half of unverified AI verdicts turned out to be wrong.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Results end up scattered across Jira, spreadsheets and chats — no single record of what is actually verified.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Bugs found late cost the most — the cheapest bug is the one caught in the requirement text, before code exists.</a:t>
            </a:r>
          </a:p>
        </p:txBody>
      </p:sp>
      <p:pic>
        <p:nvPicPr>
          <p:cNvPr id="4" name="Picture 3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6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FFFFFF"/>
                </a:solidFill>
                <a:latin typeface="Guton SemBd"/>
              </a:rPr>
              <a:t>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Guton SemBd"/>
              </a:rPr>
              <a:t>The machine does the grind. The human stays the judge — no verdict is final until a person confirms it.</a:t>
            </a:r>
          </a:p>
        </p:txBody>
      </p:sp>
      <p:pic>
        <p:nvPicPr>
          <p:cNvPr id="4" name="Picture 3" descr="e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What it 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522143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041167"/>
                </a:solidFill>
                <a:latin typeface="Guton SemB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0D0D28"/>
                </a:solidFill>
                <a:latin typeface="Inter"/>
              </a:rPr>
              <a:t>skills in one plugin — install once from our marketplace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6543" y="2103120"/>
            <a:ext cx="2522143" cy="2926080"/>
          </a:xfrm>
          <a:prstGeom prst="roundRect">
            <a:avLst/>
          </a:prstGeom>
          <a:solidFill>
            <a:srgbClr val="FFD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6543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041167"/>
                </a:solidFill>
                <a:latin typeface="Guton SemB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423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0D0D28"/>
                </a:solidFill>
                <a:latin typeface="Inter"/>
              </a:rPr>
              <a:t>pipeline stages, wired into 2 one-command orchestrators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2103120"/>
            <a:ext cx="2522143" cy="292608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FFFFFF"/>
                </a:solidFill>
                <a:latin typeface="Guton SemB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6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commands per ticket: docs phase, then code phase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469" y="2103120"/>
            <a:ext cx="2522143" cy="2926080"/>
          </a:xfrm>
          <a:prstGeom prst="roundRect">
            <a:avLst/>
          </a:prstGeom>
          <a:solidFill>
            <a:srgbClr val="15B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9469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FFFFFF"/>
                </a:solidFill>
                <a:latin typeface="Guton SemB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2349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system of record — QA Service suite + Jira, always in sync</a:t>
            </a:r>
          </a:p>
        </p:txBody>
      </p:sp>
      <p:pic>
        <p:nvPicPr>
          <p:cNvPr id="15" name="Picture 14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Phase 1 — Docs  ·  “run the QA docs pipeline for EP-XXXXX”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6000"/>
            <a:ext cx="1962851" cy="274320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Task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Pulls the ticket, AC, comments, attachments into one source of truth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2286000"/>
            <a:ext cx="1962851" cy="2743200"/>
          </a:xfrm>
          <a:prstGeom prst="roundRect">
            <a:avLst/>
          </a:prstGeom>
          <a:solidFill>
            <a:srgbClr val="15B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5851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851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Grooming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851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QA lens on gaps, conflicts, risks — open questions posted to the ticket right away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4422" y="2286000"/>
            <a:ext cx="1962851" cy="2743200"/>
          </a:xfrm>
          <a:prstGeom prst="roundRect">
            <a:avLst/>
          </a:prstGeom>
          <a:solidFill>
            <a:srgbClr val="041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3022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022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3022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Every requirement decomposed into atomic, channel-tagged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593" y="2286000"/>
            <a:ext cx="1962851" cy="2743200"/>
          </a:xfrm>
          <a:prstGeom prst="roundRect">
            <a:avLst/>
          </a:prstGeom>
          <a:solidFill>
            <a:srgbClr val="FFD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193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041167"/>
                </a:solidFill>
                <a:latin typeface="Guton SemB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193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41167"/>
                </a:solidFill>
                <a:latin typeface="Guton SemBd"/>
              </a:rPr>
              <a:t>Test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193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D0D28"/>
                </a:solidFill>
                <a:latin typeface="Inter"/>
              </a:rPr>
              <a:t>Concrete steps, data, expected results — machine- and human-readable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764" y="2286000"/>
            <a:ext cx="1962851" cy="274320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7364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7364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Publish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7364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QA sub-task + QA Service suite, one confirmation pause</a:t>
            </a:r>
          </a:p>
        </p:txBody>
      </p:sp>
      <p:pic>
        <p:nvPicPr>
          <p:cNvPr id="23" name="Picture 22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Phase 2 — Code &amp; UI  ·  “run the QA code pipeline”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6000"/>
            <a:ext cx="1962851" cy="274320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PR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Maps every changed file and behaviour the PRs touch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2286000"/>
            <a:ext cx="1962851" cy="2743200"/>
          </a:xfrm>
          <a:prstGeom prst="roundRect">
            <a:avLst/>
          </a:prstGeom>
          <a:solidFill>
            <a:srgbClr val="15B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5851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851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Code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851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Every test case checked against the diff; scope creep surfaces as “unmapped changes”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4422" y="2286000"/>
            <a:ext cx="1962851" cy="2743200"/>
          </a:xfrm>
          <a:prstGeom prst="roundRect">
            <a:avLst/>
          </a:prstGeom>
          <a:solidFill>
            <a:srgbClr val="041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3022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022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API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3022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[API] cases executed against REST — write-safe, evidence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593" y="2286000"/>
            <a:ext cx="1962851" cy="2743200"/>
          </a:xfrm>
          <a:prstGeom prst="roundRect">
            <a:avLst/>
          </a:prstGeom>
          <a:solidFill>
            <a:srgbClr val="FFD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193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041167"/>
                </a:solidFill>
                <a:latin typeface="Guton SemB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193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41167"/>
                </a:solidFill>
                <a:latin typeface="Guton SemBd"/>
              </a:rPr>
              <a:t>Web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193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D0D28"/>
                </a:solidFill>
                <a:latin typeface="Inter"/>
              </a:rPr>
              <a:t>[UI] cases executed in a real browser (Playwright or Chrome)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764" y="2286000"/>
            <a:ext cx="1962851" cy="274320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7364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7364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Analyze +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7364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Health check, count gates, results posted to Jira as PROVISIONAL</a:t>
            </a:r>
          </a:p>
        </p:txBody>
      </p:sp>
      <p:pic>
        <p:nvPicPr>
          <p:cNvPr id="23" name="Picture 22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Phase 3 — The human loop  ·  where verdicts become real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286000"/>
            <a:ext cx="1962851" cy="274320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Run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Fresh fixtures provisioned; one login / one action / one expect per 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7251" y="2286000"/>
            <a:ext cx="1962851" cy="2743200"/>
          </a:xfrm>
          <a:prstGeom prst="roundRect">
            <a:avLst/>
          </a:prstGeom>
          <a:solidFill>
            <a:srgbClr val="15B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5851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5851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Spot-checks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851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High-risk machine PASSes become quick VERIFY rows — not skipped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4422" y="2286000"/>
            <a:ext cx="1962851" cy="2743200"/>
          </a:xfrm>
          <a:prstGeom prst="roundRect">
            <a:avLst/>
          </a:prstGeom>
          <a:solidFill>
            <a:srgbClr val="041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3022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3022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You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3022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A short sheet of what is left — not 89 blind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593" y="2286000"/>
            <a:ext cx="1962851" cy="2743200"/>
          </a:xfrm>
          <a:prstGeom prst="roundRect">
            <a:avLst/>
          </a:prstGeom>
          <a:solidFill>
            <a:srgbClr val="FFD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0193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041167"/>
                </a:solidFill>
                <a:latin typeface="Guton SemBd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0193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041167"/>
                </a:solidFill>
                <a:latin typeface="Guton SemBd"/>
              </a:rPr>
              <a:t>Ingest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193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0D0D28"/>
                </a:solidFill>
                <a:latin typeface="Inter"/>
              </a:rPr>
              <a:t>Your Excel verdicts joined by TC id, never by row 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8764" y="2286000"/>
            <a:ext cx="1962851" cy="274320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7364" y="2468880"/>
            <a:ext cx="1505651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Guton SemB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7364" y="3154680"/>
            <a:ext cx="1505651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Retract &amp; close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7364" y="3840480"/>
            <a:ext cx="1505651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Inter"/>
              </a:rPr>
              <a:t>Wrong machine verdicts publicly SUPERSEDED — only then “QA passed”</a:t>
            </a:r>
          </a:p>
        </p:txBody>
      </p:sp>
      <p:pic>
        <p:nvPicPr>
          <p:cNvPr id="23" name="Picture 22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Built-in defenses against false passes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522143" cy="1371600"/>
          </a:xfrm>
          <a:prstGeom prst="roundRect">
            <a:avLst/>
          </a:prstGeom>
          <a:solidFill>
            <a:srgbClr val="BE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Absence-check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36543" y="1828800"/>
            <a:ext cx="2522143" cy="1371600"/>
          </a:xfrm>
          <a:prstGeom prst="roundRect">
            <a:avLst/>
          </a:prstGeom>
          <a:solidFill>
            <a:srgbClr val="AB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9423" y="182880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UI-provenance rule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6" y="1828800"/>
            <a:ext cx="2522143" cy="1371600"/>
          </a:xfrm>
          <a:prstGeom prst="roundRect">
            <a:avLst/>
          </a:prstGeom>
          <a:solidFill>
            <a:srgbClr val="FFF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6" y="182880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Positive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29469" y="1828800"/>
            <a:ext cx="2522143" cy="1371600"/>
          </a:xfrm>
          <a:prstGeom prst="roundRect">
            <a:avLst/>
          </a:prstGeom>
          <a:solidFill>
            <a:srgbClr val="BE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12349" y="182880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Ingestion-lag waits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74720"/>
            <a:ext cx="2522143" cy="1371600"/>
          </a:xfrm>
          <a:prstGeom prst="roundRect">
            <a:avLst/>
          </a:prstGeom>
          <a:solidFill>
            <a:srgbClr val="AB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Count gates + self-test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6543" y="3474720"/>
            <a:ext cx="2522143" cy="1371600"/>
          </a:xfrm>
          <a:prstGeom prst="roundRect">
            <a:avLst/>
          </a:prstGeom>
          <a:solidFill>
            <a:srgbClr val="FFF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347472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Probe before 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6" y="3474720"/>
            <a:ext cx="2522143" cy="1371600"/>
          </a:xfrm>
          <a:prstGeom prst="roundRect">
            <a:avLst/>
          </a:prstGeom>
          <a:solidFill>
            <a:srgbClr val="BE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6" y="347472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PROVISIONAL by default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9469" y="3474720"/>
            <a:ext cx="2522143" cy="1371600"/>
          </a:xfrm>
          <a:prstGeom prst="roundRect">
            <a:avLst/>
          </a:prstGeom>
          <a:solidFill>
            <a:srgbClr val="AB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2349" y="3474720"/>
            <a:ext cx="215638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041167"/>
                </a:solidFill>
                <a:latin typeface="Guton SemBd"/>
              </a:rPr>
              <a:t>Public retractions</a:t>
            </a:r>
          </a:p>
        </p:txBody>
      </p:sp>
      <p:pic>
        <p:nvPicPr>
          <p:cNvPr id="19" name="Picture 18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A real run — EP-53978 (favourites privacy)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522143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F1F4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041167"/>
                </a:solidFill>
                <a:latin typeface="Guton SemBd"/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0D0D28"/>
                </a:solidFill>
                <a:latin typeface="Inter"/>
              </a:rPr>
              <a:t>test cases generated, all traced to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6543" y="2103120"/>
            <a:ext cx="2522143" cy="2926080"/>
          </a:xfrm>
          <a:prstGeom prst="roundRect">
            <a:avLst/>
          </a:prstGeom>
          <a:solidFill>
            <a:srgbClr val="FFD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6543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041167"/>
                </a:solidFill>
                <a:latin typeface="Guton SemBd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9423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0D0D28"/>
                </a:solidFill>
                <a:latin typeface="Inter"/>
              </a:rPr>
              <a:t>requirements groomed from one story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2103120"/>
            <a:ext cx="2522143" cy="292608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6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FFFFFF"/>
                </a:solidFill>
                <a:latin typeface="Guton SemBd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5886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real defects filed (EP-55691…55702), evidence attached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29469" y="2103120"/>
            <a:ext cx="2522143" cy="2926080"/>
          </a:xfrm>
          <a:prstGeom prst="roundRect">
            <a:avLst/>
          </a:prstGeom>
          <a:solidFill>
            <a:srgbClr val="15BD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9469" y="2651760"/>
            <a:ext cx="2522143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6000" b="0">
                <a:solidFill>
                  <a:srgbClr val="FFFFFF"/>
                </a:solidFill>
                <a:latin typeface="Guton SemBd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2349" y="3931920"/>
            <a:ext cx="21563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Inter"/>
              </a:rPr>
              <a:t>wrong machine verdicts caught and retracted by the human loop</a:t>
            </a:r>
          </a:p>
        </p:txBody>
      </p:sp>
      <p:pic>
        <p:nvPicPr>
          <p:cNvPr id="15" name="Picture 14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Division of labour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120640" cy="384048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120640" cy="731520"/>
          </a:xfrm>
          <a:prstGeom prst="roundRect">
            <a:avLst/>
          </a:prstGeom>
          <a:solidFill>
            <a:srgbClr val="03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THE MACHINE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Context gathering and requirement grooming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Test design with full traceability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PR / code review against every case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API + browser execution with evidence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Fixture provisioning and run-sheet building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All Jira / QA Service bookkeeping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Retest scoping when the fix lands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28800"/>
            <a:ext cx="5120640" cy="3840480"/>
          </a:xfrm>
          <a:prstGeom prst="round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5120640" cy="731520"/>
          </a:xfrm>
          <a:prstGeom prst="roundRect">
            <a:avLst/>
          </a:prstGeom>
          <a:solidFill>
            <a:srgbClr val="041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828800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FFFFFF"/>
                </a:solidFill>
                <a:latin typeface="Guton SemBd"/>
              </a:rPr>
              <a:t>YOU STAY THE JUDGE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One confirmation pause per phase — nothing posts silently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Hand-test the short run sheet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Spot-check the risky machine PASSes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Your results overturn the machine's — with public retractions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D0D28"/>
                </a:solidFill>
                <a:latin typeface="Inter"/>
              </a:rPr>
              <a:t>•  “QA passed” exists only after your say-so</a:t>
            </a:r>
          </a:p>
        </p:txBody>
      </p:sp>
      <p:pic>
        <p:nvPicPr>
          <p:cNvPr id="11" name="Picture 10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Also in the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Retest mode — say “retest EP-1234” after a fix: scoped rerun, fresh fixtures, supersede notes.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Split runs — docs + browser in Cowork, code phase in Claude Code; resume picks up where you left off.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Secret hygiene — credentials never enter chat, reports, or git; scans built into the workflow.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Run-health analyzer after every phase — coverage gaps, evidence quality, count mismatches.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An enforced improvement loop — every run finding must be implemented or explicitly rejected in the changelog.</a:t>
            </a:r>
          </a:p>
        </p:txBody>
      </p:sp>
      <p:pic>
        <p:nvPicPr>
          <p:cNvPr id="4" name="Picture 3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How to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Install: add the marketplace (github.com/rkubashevych/ep-qa-pipeline), install ep-qa-pipeline, enable auto-update.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Connect: Atlassian connector + QA Service connector; API creds via .env (never pasted).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Per ticket: “run the QA docs pipeline for EP-XXXXX” → fresh chat → “run the QA code pipeline”.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When your manual round is done: “ingest the manual results” — the record gets corrected, the ticket gets its real verdict.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Where: docs phase anywhere; code phase in Claude Code (repo + creds); web testing in Cowork or Playwright.</a:t>
            </a:r>
          </a:p>
        </p:txBody>
      </p:sp>
      <p:pic>
        <p:nvPicPr>
          <p:cNvPr id="4" name="Picture 3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041167"/>
                </a:solidFill>
                <a:latin typeface="Guton SemBd"/>
              </a:rPr>
              <a:t>Where it goes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515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Mileage: run real tickets, track one number — how many machine PASSes the human overturns (baseline: ~50%).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Metrics ledger — per-run stats so improvement is measured, not felt.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Consolidation release — fewer rules, smaller skills, same behaviour.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Eval sets built from real failures, not synthetic ones.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>
                <a:solidFill>
                  <a:srgbClr val="0D0D28"/>
                </a:solidFill>
                <a:latin typeface="Inter"/>
              </a:rPr>
              <a:t>•  Pairs with the test-analysis skill as a “stage 0” gate while requirements are still being written.</a:t>
            </a:r>
          </a:p>
        </p:txBody>
      </p:sp>
      <p:pic>
        <p:nvPicPr>
          <p:cNvPr id="4" name="Picture 3" descr="ep-logo-col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015" y="365760"/>
            <a:ext cx="1371600" cy="6812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A7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p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011680" cy="9991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5603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0">
                <a:solidFill>
                  <a:srgbClr val="FFFFFF"/>
                </a:solidFill>
                <a:latin typeface="Guton SemBd"/>
              </a:rPr>
              <a:t>Let’s test it together!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FFFFF"/>
                </a:solidFill>
                <a:latin typeface="Inter"/>
              </a:rPr>
              <a:t>github.com/rkubashevych/ep-qa-pipeline  ·  Roman Kubashevych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